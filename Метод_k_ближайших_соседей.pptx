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тему: сегодня разбираем самый «человеческий» алгоритм машинного обучения – метод k ближайших соседей (kNN, k-Nearest Neighbors). Он не строит формул и не подбирает веса: чтобы узнать, что за объект перед нами, он просто смотрит на похожие объекты, ответ для которых уже известен. Спросите класс: как вы понимаете, что незнакомый человек – школьник, а не учитель? (Обычно отвечают: по возрасту, росту, одежде – сравниваем с теми, кого уже знаем.) Скажите, что ровно так работает kNN. Пообещайте, что к концу занятия каждый напишет его сам на чистом Python – без numpy и sklearn, примерно в 30 строк – и применит к данным беспилотника.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картинку: робот-сортировщик на складе измерил ширину и высоту фруктов. Серые – яблоки, золотые – груши, белый кружок со знаком вопроса – новый фрукт размером 6 × 7 см. Дайте классу полминуты и проголосуйте: яблоко или груша? Обычно голоса делятся: самая близкая точка – груша, но вокруг больше яблок. Спросите сторонников каждой версии, как они рассуждали (ожидаемые ответы: «ближе всего груша» и «рядом больше яблок»). Подчеркните, что обе группы уже придумали kNN – просто с разным числом соседей: первые взяли k = 1, вторые – k = 3 или 5. К этому примеру вернемся на слайде 5 и посчитаем все 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Скажите, что у kNN всего одна идея – гипотеза компактности: похожие объекты в пространстве признаков лежат близко и обычно относятся к одному классу. Все остальное – техника: как измерить «близко», сколько соседей спросить и как объединить их ответы.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четыре шага слева направо. Шаг 1: для нового объекта считаем расстояние до всех объектов обучающей выборки. Шаг 2: сортируем их по расстоянию. Шаг 3: берем k первых – это и есть соседи; число k мы выбираем сами заранее. Шаг 4: для классификации соседи голосуют, побеждает самый частый класс; для регрессии берем среднее их ответов. Подчеркните главное отличие от логистической регрессии и деревьев: у kNN нет этапа обучения, модель просто запоминает выборку, а вся работа происходит в момент прогноза. Поэтому метод называют «ленивым». Спросите: «Что хранит обученная модель kNN?» (ответ: всю обучающую выборку целиком). Связанные задания –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Вернитесь к фрукту q = (6, 7). Посчитайте с классом несколько расстояний по формуле Пифагора: до груши (6, 8) – √(0² + 1²) = 1; до яблока (7, 6) – √(1² + 1²) ≈ 1,41; до яблока (8, 7) – 2; до яблока (7, 5) – √(1 + 4) ≈ 2,24; до груши (4, 9) – √(4 + 4) ≈ 2,83. Выпишите их по возрастанию – это и есть шаг 2. Теперь голосуем. k = 1: один сосед – груша. k = 3: груша, яблоко, яблоко – 2 : 1 за яблоко. k = 5: 3 : 2 за яблоко. Вывод: ответ зависит от k, и один случайный сосед может увести в сторону. Спросите: «Какому ответу вы доверяете больше?» (обычно – k = 3 или 5: решает не одна точка). Отметьте, что для двух классов k берут нечетным, чтобы не было ничьей. Дополнительное задание: какой ответ при k = 7? (4 яблока, 3 груши – яблоко). Связанное задание – 2, строки проверки совпадают с этими числами.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Скажите, что весь метод держится на слове «близко». Если расстояние выбрано плохо, соседями окажутся непохожие объекты – и никакое k не поможет. Разберем два способа мерить расстояние и одну ловушку, на которой ошибаются даже опытные.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картинку: точки a = (1, 1) и b = (4, 5). Евклидово расстояние – длина отрезка «по прямой», золотая линия: катеты 3 и 4, гипотенуза √(9 + 16) = 5. Манхэттенское – путь «по клеткам», как такси в квартале с прямоугольными улицами, серая линия: 3 + 4 = 7. Выпишите общие формулы для n признаков и подчеркните: признаков может быть сколько угодно – 2, 4 или 784, формула та же, просто сумма длиннее. Спросите: «Может ли манхэттенское расстояние оказаться меньше евклидова?» (ответ: нет, путь по клеткам не короче прямой; равны они, только когда точки отличаются одной координатой). По умолчанию используем евклидово – оно же стоит по умолчанию в sklearn. Для любознательных: есть и косинусное расстояние, оно сравнивает направления векторов, а не длины – оно в задании повышенной сложности. Связанное задание –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ловушка kNN. Данные беспилотника: скорость (км/ч), длина (м), высота (м) и расстояние до объекта (м, от 5 до 80). Покажите левый график: по горизонтали длина, по вертикали расстояние до объекта, в одном масштабе. Длина меняется на единицы метров, расстояние – на десятки, поэтому все точки сжались в вертикальную полоску, и соседей определяет расстояние до объекта, которое вообще не связано с классом – пешеход бывает и в 5, и в 80 метрах. Правый график – после нормализации min-max: каждый признак переведен в отрезок от 0 до 1, и классы по длине стали видны. Выпишите формулу x′ = (x − min) / (max − min) и пример: длина на обучении от 0,2 до 6,1 м, машина длиной 4,5 м превращается в (4,5 − 0,2) / (6,1 − 0,2) ≈ 0,73. Покажите три числа точности (k = 5, тест 90 объектов): сырые признаки – 0,744; после min-max – 0,844; после удаления бесполезного признака «расстояние» – 0,922. Два правила: min и max считаем только по обучающей выборке; лишние признаки вредят kNN, потому что добавляют в расстояние шум. Связанное задание –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У kNN один главный параметр – число соседей k. Напомните, что переобучение и недообучение ученики видели у дерева решений: слишком глубокое дерево запоминает шум, слишком мелкое не видит закономерностей. У kNN ту же роль играет k, только в обратную сторону: маленькое k – сложная модель, большое – простая.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три картинки: данные «две луны» (200 точек с шумом), закрашено, какой ответ kNN даст в каждой точке плоскости. k = 1: граница рваная, вокруг каждой «чужой» точки – свой островок. На обучении точность 1,0 (каждая точка сама себе ближайший сосед), а на новых 1000 точках – 0,839: модель запомнила шум. Это переобучение. k = 15: граница плавная и повторяет форму лун, на новых данных 0,904 – лучший вариант. k = 151: голосует больше половины выборки, граница почти прямая, на новых данных 0,742 – недообучение. Спросите: «Что ответит модель, если k равно размеру всей выборки?» (ответ: для любой точки – самый частый класс выборки, как константа). Сравните с деревом решений 9 класса: там граница – ступеньки, параллельные осям, а у kNN – любой 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про честную проверку. Если выбирать k по тестовой выборке, мы подгоним модель под тест, и его оценка станет слишком оптимистичной – тест перестанет изображать «будущие» данные. Поэтому данные делим на три части: обучение (по нему ищем соседей), валидация (по ней выбираем k), тест (трогаем один раз в самом конце). Покажите график из практики: данные беспилотника, 147 объектов на обучении и 63 на валидации, перебираем нечетные k от 1 до 99. При k = 1 ошибка 0,19, минимум 0,079 при k = 9, при k = 99 ошибка вырастает до 0,302. После выбора k = 9 модель проверяем на тесте один раз – точность 0,933. Спросите: «Почему кривая слева и справа поднимается?» (слева – переобучение, справа – недообучение). Связанное задание –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Важная мысль для тех, кто помнит логистическую регрессию: у kNN нет функции потерь, которую он минимизирует при обучении, – обучения ведь нет. Но измерять качество прогнозов все равно нужно, и для этого берем те же метрики, что и у других моделей. Классификация: accuracy – доля верных ответов, доля ошибок = 1 − accuracy. Пример: из 4 ответов 3 верные – accuracy 0,75. Регрессия: MSE – средний квадрат ошибки, RMSE – корень из MSE, он в тех же единицах, что и ответ, например в метрах. Пример: правильные ответы [1, 2, 3], прогнозы [1, 4, 0]; ошибки 0, −2, 3; квадраты 0, 4, 9; MSE = 13 / 3 ≈ 4,33, RMSE ≈ 2,08. Спросите: «Почему ошибки возводят в квадрат, а не просто складывают?» (иначе +3 и −3 взаимно уничтожились бы; к тому же квадрат сильнее наказывает большие промахи). Связанные задания – 3 и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До сих пор соседи голосовали за класс. Но тот же алгоритм умеет предсказывать числа – для этого голосование заменяем средним. Заодно разберем, где kNN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Задача беспилотника: оценить тормозной путь по скорости. Есть 80 замеров «скорость – путь». kNN-регрессия берет k машин с самой близкой скоростью и усредняет их тормозной путь. Пример: три ближайшие машины остановились через 40, 44 и 45 м, прогноз (40 + 44 + 45) / 3 = 43 м. Покажите график: прогноз – лесенка, потому что пока набор соседей не меняется, ответ один и тот же. Серая линия k = 1 дергается вслед за каждым замером; золотая k = 5 – самая точная (RMSE на тесте 6,5 м против 9,3 м при k = 1); пунктир k = 50 почти плоский – в среднее попадают и медленные машины (RMSE 29,3 м). Главная опасность: kNN не умеет экстраполировать. Самая быстрая машина в данных ехала около 120 км/ч, поэтому для 200 км/ч модель предскажет то же, что для 120, – примерно 102 м, а по физике путь около 280 м. Спросите: «Чем это опасно для беспилотника?» Связанное задание –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две карточки. Сильные стороны: алгоритм понятен и пишется за полчаса; прогноз можно объяснить – «это пешеход, потому что вот пять похожих пешеходов», это важно там, где ошибка дорога; обучения нет, новые данные просто дописываются в выборку; граница классов может быть любой формы. Слабые: прогноз медленный – для 90 тестовых объектов и 210 обучающих мы считаем 18 900 расстояний, а для миллиона объектов – миллионы на каждый прогноз (ускоряют это структурами KD-дерево и BallTree, которые отсекают заведомо далекие области); нужно хранить всю выборку; метод чувствителен к масштабу и лишним признакам; не экстраполирует. Отдельно расскажите про проклятие размерности: когда признаков много, все точки оказываются примерно одинаково далеко друг от друга. Опыт из задания повышенной сложности: 200 случайных точек, отношение расстояния до ближайшей к расстоянию до самой дальней – 0,04 в 2 измерениях, 0,37 в 10, 0,70 в 100 и 0,91 в 1000. «Ближайший» сосед перестает быть близким.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05. Скажите, что практика устроена как с деревом решений: весь алгоритм пишем сами, без numpy и sklearn, только списки, словари и циклы. Библиотеки появляются лишь в необязательных ячейках – для графиков и сверки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Покажите, что данные – обычные списки: объект – список чисел, выборка – список объектов, метки – отдельный список той же длины. Затем пройдите по трем функциям справа – это весь алгоритм. euclidean – сумма квадратов разностей и корень через ** 0.5 (модуль math не нужен). get_neighbors – собираем пары (расстояние, метка), сортируем по расстоянию, берем k первых меток. majority_vote – считаем голоса в словаре и возвращаем самую частую метку; при ничьей побеждает метка ближайшего соседа, поэтому второй цикл идет по labels от ближнего к дальнему. Спросите: «Что нужно поменять, чтобы получилась регрессия?» (заменить majority_vote на среднее: sum(labels) / len(labels)). Предупредите о частой ошибке: sorted без key сортирует пары сначала по расстоянию, а при равных расстояниях – по метке; с key=lambda p: p[0] порядок равных сохраняется, так мы и делаем. Задания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Задание 1 – расстояния euclidean и manhattan. Задание 2 – get_neighbors и majority_vote, проверка на фруктах: k = 1 – груша, k = 3 и 5 – яблоко. Задание 3 – knn_predict и accuracy, первый запуск на данных беспилотника (главное задание, точность 0,744). Задание 4 – нормализация min-max, точность растет до 0,844 и 0,922. Задание 5 – подбор k по валидации (главное задание, лучшее k = 9, тест 0,933). Задание 6 – kNN-регрессия тормозного пути и MSE. Проговорите правило работы: внутри своих функций – только встроенный Python, без import; после каждого задания есть строки «ожидается», по которым ученик сам проверяет себя. Для сильных – задание повышенной сложности: взвешенное голосование, косинусное расстояние, эксперимент с проклятием размерности.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двух-трех учеников своими словами объяснить, как kNN классифицирует новый объект и почему нельзя подавать ему признаки в разных масштабах. Пройдитесь по шести пунктам: похожие объекты рядом; алгоритм в четыре шага; расстояние по формуле; нормализация min-max; k выбираем на валидации; для чисел – среднее соседей. Анонсируйте следующее занятие: kNN хранит всю выборку и ничего не «понимает» о данных; следующие модели будут, наоборот, сжимать выборку в несколько параметров.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2801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k ближайших соседей: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мне, кто твой сосед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0" y="1097280"/>
            <a:ext cx="548640" cy="482803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4754880" y="1097280"/>
            <a:ext cx="548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1691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«Робот измерил новый фрукт: ширина 6 см, высота 7 см. Яблоко это или груша?»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Серые точки – яблоки, золотые – груши. Как бы вы решили сами? Способ, которым вы рассуждаете, – и есть сегодняшний алгоритм.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метода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Похожие объекты лежат рядом – значит, ответ можно подсмотреть у соседей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в четыре шага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8745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508760"/>
            <a:ext cx="502920" cy="442570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0876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Расстояния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нового объекта до каждого объекта обучающей выборки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60320" y="1325880"/>
            <a:ext cx="18745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508760"/>
            <a:ext cx="502920" cy="442570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150876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Сортировка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Упорядочить объекты от ближнего к дальнему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63440" y="1325880"/>
            <a:ext cx="18745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508760"/>
            <a:ext cx="502920" cy="442570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150876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соседей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первые k – число k выбираем заранее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66560" y="1325880"/>
            <a:ext cx="1874520" cy="201168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0" y="150876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150876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Класс: голосование. Число: среднее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785616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785616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«Обучение» = запоминание.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ничего не подбирает, она просто хранит выборку. Вся работа – в момент прогноза, поэтому kNN называют ленивым методом.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Яблоко или груша?</a:t>
            </a:r>
            <a:endParaRPr lang="en-US" sz="2400" dirty="0"/>
          </a:p>
        </p:txBody>
      </p:sp>
      <p:pic>
        <p:nvPicPr>
          <p:cNvPr id="5" name="Image 0" descr="/home/claude/knn/img/fruit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206240" cy="311810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88720"/>
                <a:gridCol w="118872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сосед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до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(6, 8)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груша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(7, 6)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яблоко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(8, 7)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яблоко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(7, 5)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яблоко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(4, 9)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груша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2.83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4846320" y="2788920"/>
            <a:ext cx="11887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 txBox="1"/>
          <p:nvPr/>
        </p:nvSpPr>
        <p:spPr>
          <a:xfrm>
            <a:off x="4956048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4956048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4956048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груша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53912" y="2788920"/>
            <a:ext cx="11887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626364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626364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: 1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6263640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яблоко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461504" y="2788920"/>
            <a:ext cx="1188720" cy="109728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7571232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571232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: 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7571232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яблоко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√((6 − 7)² + (7 − 6)²) = √2 ≈ 1.41   ·   ответ зависит от k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Расстояние и масштаб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измерить «похожесть» и почему метры нельзя складывать с километрами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способа измерить расстояние</a:t>
            </a:r>
            <a:endParaRPr lang="en-US" sz="2400" dirty="0"/>
          </a:p>
        </p:txBody>
      </p:sp>
      <p:pic>
        <p:nvPicPr>
          <p:cNvPr id="5" name="Image 0" descr="/home/claude/knn/img/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3566160" cy="34107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97680" y="1097280"/>
            <a:ext cx="4389120" cy="128016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480560" y="128016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480560" y="12801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Евклидово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2920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d(a, b) = √( Σ (aᵢ − bᵢ)² 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029200" y="1920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прямой», теорема Пифагора. Для a = (1, 1), b = (4, 5): √(3² + 4²) = 5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97680" y="2560320"/>
            <a:ext cx="4389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2743200"/>
            <a:ext cx="411480" cy="362102"/>
          </a:xfrm>
          <a:prstGeom prst="hexagon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0560" y="274320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Манхэттенское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d(a, b) = Σ | aᵢ − bᵢ |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клеткам», как такси в квартале: 3 + 4 = 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29768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– сумма по всем n признакам: формула одна для 2, 4 или 784 признаков.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ПРИЗНАКОВ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Большие числа перекрикивают маленькие</a:t>
            </a:r>
            <a:endParaRPr lang="en-US" sz="2400" dirty="0"/>
          </a:p>
        </p:txBody>
      </p:sp>
      <p:pic>
        <p:nvPicPr>
          <p:cNvPr id="5" name="Image 0" descr="/home/claude/knn/img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029200" cy="22677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74720"/>
            <a:ext cx="4846320" cy="82296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min-max:  x′ = (x − min) / (max − min)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и max – только по обучающей выборке, затем той же формулой переводим тест.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0" y="1051560"/>
            <a:ext cx="3017520" cy="96012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852160" y="1161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0.744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признаки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669280" y="2148840"/>
            <a:ext cx="3017520" cy="96012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852160" y="2258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0.844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min-max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69280" y="3246120"/>
            <a:ext cx="3017520" cy="9601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852160" y="3355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0.922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без «расстояния до объекта»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566928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на тесте, k = 5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соседей спросить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k, переобучение и честная проверка качества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K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управляет формой границы</a:t>
            </a:r>
            <a:endParaRPr lang="en-US" sz="2400" dirty="0"/>
          </a:p>
        </p:txBody>
      </p:sp>
      <p:pic>
        <p:nvPicPr>
          <p:cNvPr id="5" name="Image 0" descr="/home/claude/knn/img/moons_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615184" cy="1417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239572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23957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0632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Рваная граница, островки вокруг шума. Новые данные: 0.839</a:t>
            </a:r>
            <a:endParaRPr lang="en-US" sz="950" dirty="0"/>
          </a:p>
        </p:txBody>
      </p:sp>
      <p:pic>
        <p:nvPicPr>
          <p:cNvPr id="10" name="Image 1" descr="/home/claude/knn/img/moons_k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88720"/>
            <a:ext cx="2615184" cy="1417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74136" y="239572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374136" y="23957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3264408" y="2743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Золотая середина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264408" y="30632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повторяет форму лун. Новые данные: 0.904</a:t>
            </a:r>
            <a:endParaRPr lang="en-US" sz="950" dirty="0"/>
          </a:p>
        </p:txBody>
      </p:sp>
      <p:pic>
        <p:nvPicPr>
          <p:cNvPr id="15" name="Image 2" descr="/home/claude/knn/img/moons_k1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188720"/>
            <a:ext cx="2615184" cy="1417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81344" y="239572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181344" y="23957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151</a:t>
            </a:r>
            <a:endParaRPr lang="en-US" sz="850" dirty="0"/>
          </a:p>
        </p:txBody>
      </p:sp>
      <p:sp>
        <p:nvSpPr>
          <p:cNvPr id="18" name="Text 12"/>
          <p:cNvSpPr txBox="1"/>
          <p:nvPr/>
        </p:nvSpPr>
        <p:spPr>
          <a:xfrm>
            <a:off x="6071616" y="2743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Недообучение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071616" y="30632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прямая, форма потеряна. Новые данные: 0.742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0080" y="38221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Маленькое k – модель верит одной точке и повторяет шум. Большое k – голосуют далекие, непохожие объекты. Лучшее k где-то посередине, и его ищут на валидации.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K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честно выбрать k</a:t>
            </a:r>
            <a:endParaRPr lang="en-US" sz="2400" dirty="0"/>
          </a:p>
        </p:txBody>
      </p:sp>
      <p:pic>
        <p:nvPicPr>
          <p:cNvPr id="5" name="Image 0" descr="/home/claude/knn/img/val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937760" cy="30083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77840" y="1097280"/>
            <a:ext cx="3108960" cy="73152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607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объектов – среди них ищем соседей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577840" y="1965960"/>
            <a:ext cx="3108960" cy="731520"/>
          </a:xfrm>
          <a:prstGeom prst="rect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объекта – по ним выбираем k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577840" y="2834640"/>
            <a:ext cx="3108960" cy="73152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607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объектов – проверяем один раз в конце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k = 9: ошибка на валидации 0.079, точность на тесте 0.933.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измерить ошибку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11480" cy="36210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258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верных / 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верных ответов. Доля ошибок = 1 − accuracy.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3657600" cy="82296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[0, 1, 2, 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[0, 1, 1, 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3 / 4 = 0.75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143000"/>
            <a:ext cx="4023360" cy="251460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32588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13258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(1/N) · Σ (yᵢ − ŷᵢ)²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квадрат ошибки. RMSE = √MSE – в единицах ответа.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697480"/>
            <a:ext cx="3657600" cy="822960"/>
          </a:xfrm>
          <a:prstGeom prst="rect">
            <a:avLst/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[1, 2, 3]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[1, 4, 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(0 + 4 + 9) / 3 ≈ 4.33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 нет – нет и функции потерь при обучении. </a:t>
            </a:r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качество прогнозов измеряем всегда: accuracy для классов, MSE и RMSE для чисел.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и границы метода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предсказывает и числа – но только внутри знакомых данных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kNN-регрессия: среднее соседей</a:t>
            </a:r>
            <a:endParaRPr lang="en-US" sz="2400" dirty="0"/>
          </a:p>
        </p:txBody>
      </p:sp>
      <p:pic>
        <p:nvPicPr>
          <p:cNvPr id="5" name="Image 0" descr="/home/claude/knn/img/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572000" cy="325526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03520" y="1097280"/>
            <a:ext cx="3383280" cy="12344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4864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(y₁ + y₂ + … + yₖ) / k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572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Соседи: 40, 44, 45 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(40 + 44 + 45) / 3 = 43 м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303520" y="2514600"/>
            <a:ext cx="10515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394960" y="2587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м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k = 1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446520" y="2514600"/>
            <a:ext cx="1051560" cy="77724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537960" y="2587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м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k = 5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7589520" y="2514600"/>
            <a:ext cx="10515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680960" y="2587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 м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k = 50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303520" y="3474720"/>
            <a:ext cx="3383280" cy="82296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0" y="3547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экстраполирует: для 200 км/ч прогноз ≈ 102 м, как для 120 км/ч. По физике – около 280 м.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188720"/>
            <a:ext cx="35661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32588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3258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Прост: пишется за полчаса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объясним: «вот похожие объекты»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обучения: новые данные просто добавляются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классов любой формы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5661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325880"/>
            <a:ext cx="411480" cy="36210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3258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прогноз: расстояния до всех объектов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всю выборку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Чувствителен к масштабу и лишним признакам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экстраполирует; проклятие размерности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Проклятие размерности: при 1000 признаков ближайший сосед всего в 1.1 раза ближе самого дальнего. Лишние признаки – враг kNN.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knn/img/se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kNN на Python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работа: только списки, циклы и встроенные функции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kNN – три функции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301752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– СПИСКИ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X_fruit = [[7, 6],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[8, 7],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[6, 8],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y_fruit = [0, 0, 1,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[6, 7]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объект = список чисел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выборка = список объектов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метки – отдельный список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5440680" cy="301752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207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426464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euclidean(a, b):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ai, bi in zip(a, b):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(ai - bi) ** 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 ** 0.5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get_neighbors(X, y, x, k):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pairs = [(euclidean(xi, x), yi) for xi, yi in zip(X, y)]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pairs = sorted(pairs, key=lambda p: p[0])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[yi for d, yi in pairs[:k]]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majority_vote(labels):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lab in labels: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counts[lab] = counts.get(lab, 0) + 1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 = max(counts.values())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lab in labels: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counts[lab] == best: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lab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– одна замена: </a:t>
            </a:r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majority_vote(labels) берем sum(labels) / len(labels).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один алгоритм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4630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630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euclidean · manhattan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Расстояния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64408" y="10972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1568" y="14630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01568" y="14630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995928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get_neighbors ·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majority_vote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99592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 и голосование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71616" y="1097280"/>
            <a:ext cx="2651760" cy="11887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08776" y="14630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08776" y="14630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803136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knn_predict · accuracy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803136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Беспилотник: 0.744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4688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28346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2834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minmax_fit ·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minmax_transform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Масштаб: 0.844 → 0.922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64408" y="2468880"/>
            <a:ext cx="2651760" cy="11887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01568" y="28346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01568" y="2834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995928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choose_k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995928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k = 9, тест 0.933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71616" y="24688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08776" y="283464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08776" y="2834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803136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knn_regress · mse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803136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Тормозной путь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задания – строки «ожидается …». Внутри функций – только встроенный Python, без import.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Похожие объекты лежат рядом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подсматриваем у соседей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шага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расстояния → сортировка → k → голос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Расстояние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евклидово √Σ(aᵢ − bᵢ)²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перед kNN, min и max по обучению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– шум, много – «среднее по больнице»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соседей, без экстраполяции</a:t>
            </a:r>
            <a:endParaRPr lang="en-US" sz="900" dirty="0"/>
          </a:p>
        </p:txBody>
      </p:sp>
      <p:pic>
        <p:nvPicPr>
          <p:cNvPr id="23" name="Image 0" descr="/home/claude/knn/img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Метод k ближайших соседей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k ближайших соседей</dc:title>
  <dc:subject>PptxGenJS Presentation</dc:subject>
  <dc:creator>PptxGenJS</dc:creator>
  <cp:lastModifiedBy>PptxGenJS</cp:lastModifiedBy>
  <cp:revision>1</cp:revision>
  <dcterms:created xsi:type="dcterms:W3CDTF">2026-09-25T01:49:32Z</dcterms:created>
  <dcterms:modified xsi:type="dcterms:W3CDTF">2026-09-25T01:49:32Z</dcterms:modified>
</cp:coreProperties>
</file>